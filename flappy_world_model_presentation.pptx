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Flappy Bird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A8DE"/>
                </a:solidFill>
                <a:latin typeface="Calibri"/>
              </a:defRPr>
            </a:pPr>
            <a:r>
              <a:t>Learning Game Physics with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 story about design choices, debugging failures,</a:t>
            </a:r>
            <a:br/>
            <a:r>
              <a:t>and the surprisingly hard problem of making a bird fall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46320" cy="381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A8DE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Train a neural network to simulate Flappy Bird entirely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Given context frames + player action, predict next frame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Interactive play — no game engine at inference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DE8A"/>
                </a:solidFill>
                <a:latin typeface="Calibri"/>
              </a:defRPr>
            </a:pPr>
            <a:r>
              <a:t>Approach vs GameNGen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Inspired by GameNGen (Google, 2024) — but built from scratch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Flow matching instead of DDIM diffusion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~3.4M params vs GameNGen's ~860M (Stable Diffusion 1.4)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~470K frames vs 900M frames — 2000x less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97280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6EDE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8DE"/>
                </a:solidFill>
                <a:latin typeface="Calibri"/>
              </a:defRPr>
            </a:pPr>
            <a:r>
              <a:t>PPO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game/rl/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5120640"/>
            <a:ext cx="182880" cy="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DE8A"/>
                </a:solidFill>
                <a:latin typeface="Calibri"/>
              </a:defRPr>
            </a:pPr>
            <a:r>
              <a:t>VOD Recording</a:t>
            </a:r>
            <a:br/>
            <a:r>
              <a:t>(hijacked agent)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vod/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43400" y="5120640"/>
            <a:ext cx="182880" cy="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8A4E"/>
                </a:solidFill>
                <a:latin typeface="Calibri"/>
              </a:defRPr>
            </a:pPr>
            <a:r>
              <a:t>VAE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diffuse/vae/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5120640"/>
            <a:ext cx="182880" cy="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B6EDE"/>
                </a:solidFill>
                <a:latin typeface="Calibri"/>
              </a:defRPr>
            </a:pPr>
            <a:r>
              <a:t>Latent 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latent-vod/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5120640"/>
            <a:ext cx="182879" cy="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296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5E5E"/>
                </a:solidFill>
                <a:latin typeface="Calibri"/>
              </a:defRPr>
            </a:pPr>
            <a:r>
              <a:t>Flow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diffuse/ngen/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5120640"/>
            <a:ext cx="182880" cy="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58400" y="4389120"/>
            <a:ext cx="1554480" cy="14630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D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4434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DE4E"/>
                </a:solidFill>
                <a:latin typeface="Calibri"/>
              </a:defRPr>
            </a:pPr>
            <a:r>
              <a:t>Interactive</a:t>
            </a:r>
            <a:br/>
            <a:r>
              <a:t>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world/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467K frames | 3,135 episodes | 17 hijacking configs | 4.3hr gameplay | 2x H200 GPUs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Flow Matching in 60 Seconds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A8DE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937760" cy="146304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z_0 ~ N(0,1)            # random noise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z_1 = target_latent     # real game frame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t ~ U(0,1)              # random time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z_t = (1-t)*z_0 + t*z_1 # interpolate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v_target = z_1 - z_0    # target velocity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loss = MSE(model(z_t, t, cond), v_target)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DE8A"/>
                </a:solidFill>
                <a:latin typeface="Calibri"/>
              </a:defRPr>
            </a:pPr>
            <a:r>
              <a:t>Inference (50 Euler steps)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937760" cy="146304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z = N(0,1)              # start from noise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for i in range(50):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    t = (i + 0.5) / 50  # midpoint rule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    v = model(z, t, cond)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    z = z + v * dt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    z = clamp(z, -4, 4) #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8A4E"/>
                </a:solidFill>
                <a:latin typeface="Calibri"/>
              </a:defRPr>
            </a:pPr>
            <a:r>
              <a:t>Key Idea: Learn a velocity field that transports noise to data along straight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Simpler than denoising diffusion — no noise schedule needed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Straight-line paths = Euler integrator is a good approximation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Loss is plain MSE on velocity predictions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Connects naturally to reflow for fewer inference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Why vs DDIM? Simpler math, no variance weighting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Midpoint rule: fixes systematic bias (ODE never reached t=1.0)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Latent clamping: prevents ODE drift to out-of-distribution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CFG: 2 forward passes per step (100 evals per frame)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ResUNet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920240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DE"/>
                </a:solidFill>
                <a:latin typeface="Calibri"/>
              </a:defRPr>
            </a:pPr>
            <a:r>
              <a:t>DownRes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36x64 -&gt; 18x32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36ch -&gt; 64ch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39"/>
            <a:ext cx="1920240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DE"/>
                </a:solidFill>
                <a:latin typeface="Calibri"/>
              </a:defRPr>
            </a:pPr>
            <a:r>
              <a:t>DownRes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18x32 -&gt; 9x16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64ch -&gt; 128ch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828800"/>
            <a:ext cx="2560320" cy="3200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Bottleneck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468880"/>
            <a:ext cx="2194560" cy="640080"/>
          </a:xfrm>
          <a:prstGeom prst="roundRect">
            <a:avLst/>
          </a:prstGeom>
          <a:solidFill>
            <a:srgbClr val="2E1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6EDE"/>
                </a:solidFill>
                <a:latin typeface="Calibri"/>
              </a:defRPr>
            </a:pPr>
            <a:r>
              <a:t>ResBlock</a:t>
            </a:r>
            <a:br/>
            <a:r>
              <a:t>128ch -&gt; 256ch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291840"/>
            <a:ext cx="2194560" cy="640080"/>
          </a:xfrm>
          <a:prstGeom prst="roundRect">
            <a:avLst/>
          </a:prstGeom>
          <a:solidFill>
            <a:srgbClr val="2E1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337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6EDE"/>
                </a:solidFill>
                <a:latin typeface="Calibri"/>
              </a:defRPr>
            </a:pPr>
            <a:r>
              <a:t>Self-Attention</a:t>
            </a:r>
            <a:br/>
            <a:r>
              <a:t>8 heads, 144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114800"/>
            <a:ext cx="2194560" cy="640080"/>
          </a:xfrm>
          <a:prstGeom prst="roundRect">
            <a:avLst/>
          </a:prstGeom>
          <a:solidFill>
            <a:srgbClr val="3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E5E5E"/>
                </a:solidFill>
                <a:latin typeface="Calibri"/>
              </a:defRPr>
            </a:pPr>
            <a:r>
              <a:t>Done head (detach)</a:t>
            </a:r>
            <a:br/>
            <a:r>
              <a:t>Dynamics 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28600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Decoder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03120"/>
            <a:ext cx="1920240" cy="91440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488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DE8A"/>
                </a:solidFill>
                <a:latin typeface="Calibri"/>
              </a:defRPr>
            </a:pPr>
            <a:r>
              <a:t>UpRes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9x16 -&gt; 18x32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256ch -&gt; 128ch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91839"/>
            <a:ext cx="1920240" cy="91440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DE8A"/>
                </a:solidFill>
                <a:latin typeface="Calibri"/>
              </a:defRPr>
            </a:pPr>
            <a:r>
              <a:t>UpRes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18x32 -&gt; 36x64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404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128ch -&gt; 64ch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1371600"/>
            <a:ext cx="2743200" cy="4572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Conditioning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0116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Input: z_t + z_cond (k=4 context) + action spatial (16ch)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Time: sinusoidal -&gt; SiLU -&gt; Linear -&gt; 128d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Aug: Embedding(10, 128) -&gt; SiLU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Actions: all k+1 -&gt; Embed -&gt; flatten -&gt; Linear -&gt; 128d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AdaGN: cat([t, c, aug]) -&gt; scale/shift at every ResBlock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Spatial: target action broadcast to (B,16,H,W) at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D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Bugs, failures, and design decisions along the 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5E5E"/>
                </a:solidFill>
                <a:latin typeface="Calibri"/>
              </a:defRPr>
            </a:pPr>
            <a:r>
              <a:t>Bug: ODE Never Reaches t=1.0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E5E"/>
                </a:solidFill>
                <a:latin typeface="Calibri"/>
              </a:defRPr>
            </a:pPr>
            <a:r>
              <a:t>Severity: CRITICAL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56032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164592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BUGGY: left-endpoint Euler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for i in range(50):  # num_steps=50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t = i * dt       # t = 0, 0.02, ..., 0.98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v = model(z, t)  # NEVER evaluates at t=1.0!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z = z + v * dt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Systematic 2% trajectory error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Forward/backward ODE asymmetry breaks reflow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1A3E1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Fix: Midpoint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164592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FIXED: midpoint Euler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for i in range(50):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t = (i + 0.5) * dt  # t = 0.01, 0.03, ..., 0.99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v = model(z, t)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z = z + v * dt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Centers evaluation in each interval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Forward/backward become symmetric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Why It Matters for Reflow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Reflow needs backward ODE: z_0 = backward(z_1)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If forward ends at t=0.98, backward starts at t=1.0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Asymmetric integration = paired points aren't truly paired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Training on bad pairs makes reflow model worse, not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Also found: train used 50 steps, inference used 20 steps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2.5x larger dt at inference = different discretization error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Fix: always use 50 steps for both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Midpoint rule also reduces error at any step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5E5E"/>
                </a:solidFill>
                <a:latin typeface="Calibri"/>
              </a:defRPr>
            </a:pPr>
            <a:r>
              <a:t>Bug: CFG Drops Actions — Bird Disappears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E5E"/>
                </a:solidFill>
                <a:latin typeface="Calibri"/>
              </a:defRPr>
            </a:pPr>
            <a:r>
              <a:t>Severity: CRITICAL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92608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201168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BUGGY: zeros out BOTH frames AND actions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cfg_mask = rand(B) &lt; 0.1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z_cond = where(mask, zeros, z_cond)  # zero frames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actions = where(mask, NULL_TOKEN, actions)  # zero actions!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At inference with CFG: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v_uncond = model(z, t, z_cond=zeros, actions=NULL)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v_cond   = model(z, t, z_cond=real,  actions=real)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 = v_uncond + 1.5 * (v_cond - v_uncond)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^ v_uncond has NO action info, so CFG amplifies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  both frame AND action conditioning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2926080"/>
          </a:xfrm>
          <a:prstGeom prst="roundRect">
            <a:avLst/>
          </a:prstGeom>
          <a:solidFill>
            <a:srgbClr val="1A3E1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Fix (GameNGen design)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201168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FIXED: only drop frames, NEVER actions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cfg_mask = rand(B) &lt; 0.1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z_cond = where(mask, zeros, z_cond)  # zero frames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actions unchanged! always pass real actions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At inference with CFG: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v_uncond = model(z, t, z_cond=zeros, actions=REAL)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v_cond   = model(z, t, z_cond=real,  actions=REAL)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v = v_uncond + 1.5 * (v_cond - v_uncond)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^ CFG only amplifies frame conditioning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  action signal preserved in both paths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9728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Observed Symptoms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Bird randomly disappeared when approaching pipes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v_uncond (no context, no action) = generic 'average frame'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Bird could be anywhere in the average frame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CFG amplification destructively interfered with bird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After fix: bird stays visible and stable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Key insight from GameNGen paper (Section 3.2):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"Unconditional" means "no visual memory" not "no info"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model should ALWAYS know what action was taken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5E5E"/>
                </a:solidFill>
                <a:latin typeface="Calibri"/>
              </a:defRPr>
            </a:pPr>
            <a:r>
              <a:t>Bug: Episode Boundary Wrap-Around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Episode N, step 0: context wraps to Episode N-1's LAST k frames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Context: dead bird (crashed state) from previous episode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Target: fresh bird at starting position (new episode)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 learns: dead_bird + action -&gt; fresh_bird (impossible!)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~3-4K contaminated samples (~2.4% of dataset)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1A3E1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18872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# OLD: only first episode starts at step k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start_step = k if ep_idx == 0 else 0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# FIXED: ALL episodes start at step k</a:t>
            </a:r>
          </a:p>
          <a:p>
            <a:pPr>
              <a:spcAft>
                <a:spcPts val="200"/>
              </a:spcAft>
              <a:defRPr sz="1200">
                <a:solidFill>
                  <a:srgbClr val="A0D0A0"/>
                </a:solidFill>
                <a:latin typeface="Courier New"/>
              </a:defRPr>
            </a:pPr>
            <a:r>
              <a:t>start_step = k  # require k prior frames from SAME episode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Wastes k frames/episode but ensures physical causality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97280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Other Data Pipeline Issues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Inference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VAE outputs [-1,1] but code clamped to [0,1] — all negatives clipped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DE8A"/>
                </a:solidFill>
                <a:latin typeface="Calibri"/>
              </a:defRPr>
            </a:pPr>
            <a:r>
              <a:t>Fixed: (x+1)/2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Initial reset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Frame 0 (before any action) was never 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DE8A"/>
                </a:solidFill>
                <a:latin typeface="Calibri"/>
              </a:defRPr>
            </a:pPr>
            <a:r>
              <a:t>Fixed: save after 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Train/test step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Training: 50 steps. Inference: 20 steps. Different discretization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DE8A"/>
                </a:solidFill>
                <a:latin typeface="Calibri"/>
              </a:defRPr>
            </a:pPr>
            <a:r>
              <a:t>Fixed: use 50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Latent bounds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Generated latents could drift 10+ std from mean, garbage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DE8A"/>
                </a:solidFill>
                <a:latin typeface="Calibri"/>
              </a:defRPr>
            </a:pPr>
            <a:r>
              <a:t>Fixed: clamp to [-4, 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8A4E"/>
                </a:solidFill>
                <a:latin typeface="Calibri"/>
              </a:defRPr>
            </a:pPr>
            <a:r>
              <a:t>Design Decision: Action Class Imbalance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Action 0 (no-flap): 94.6% of training data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Action 1 (flap): 5.4% — only 8,931 samples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 achieves low loss by IGNORING the action entirely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A4E"/>
                </a:solidFill>
                <a:latin typeface="Calibri"/>
              </a:defRPr>
            </a:pPr>
            <a:r>
              <a:t>Diagnostic: action_diff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64008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Same input, opposite actions — how different?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action_diff = |model(ctx, action=0) - model(ctx, action=1)|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Result: ~0.01-0.03 (frame_diff was ~0.17)</a:t>
            </a:r>
          </a:p>
          <a:p>
            <a:pPr>
              <a:spcAft>
                <a:spcPts val="200"/>
              </a:spcAft>
              <a:defRPr sz="1000">
                <a:solidFill>
                  <a:srgbClr val="A0D0A0"/>
                </a:solidFill>
                <a:latin typeface="Courier New"/>
              </a:defRPr>
            </a:pPr>
            <a:r>
              <a:t># Model produces IDENTICAL outputs regardless of action!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Fix: Loss Reweighting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572000" cy="109728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Per-sample weight based on target action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weights = where(action == 1, 17.7, 1.0)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flow_loss = sum(mse * weights) / sum(weights)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Weight = inverse frequency ratio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Normalized by weight sum (not batch size)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Stable loss magnitude across batches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Weights computed automatically from dataset during encoding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Same approach for done_pos_weight (~28x for terminal frames)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The Lazy Extrapolation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Even after reweighting, the model had a shortcut: with k=16 context frames, it could extrapolate the bird's trajectory from visual momentum alone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Dense temporal context explains 95%+ of variance. The action explains the remaining few percent — easy to ignore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Fundamental tension: MORE context helps scene understanding but WEAKENS incentive to use action signal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This is why we eventually reduced context from k=16 to k=8 and then to k=4 — trading temporal context for action sensitivity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8A4E"/>
                </a:solidFill>
                <a:latin typeface="Calibri"/>
              </a:defRPr>
            </a:pPr>
            <a:r>
              <a:t>Design Decision: Death Frame Semantics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320040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E5E"/>
                </a:solidFill>
                <a:latin typeface="Calibri"/>
              </a:defRPr>
            </a:pPr>
            <a:r>
              <a:t>Original: 5 Death Frames (all terminated=True)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Collision frame: terminated=True, NO overlay (looks normal!)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5 overlay frames: terminated=True, game-over sprite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Problems: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Done head learns shortcut: detect overlay pixels = done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6 terminated frames per episode inflates done count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Pollutes context window (k=8: 62% death frames)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Wasted generation capacity — model generates overlays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 but inference stops at first done=True anyway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3200400"/>
          </a:xfrm>
          <a:prstGeom prst="roundRect">
            <a:avLst/>
          </a:prstGeom>
          <a:solidFill>
            <a:srgbClr val="1A3E1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DE8A"/>
                </a:solidFill>
                <a:latin typeface="Calibri"/>
              </a:defRPr>
            </a:pPr>
            <a:r>
              <a:t>Fixed: 1 Crash Frame + 1 Overlay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Crash frame: terminated=True (the real collision)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 overlay frame: terminated=FALSE, post_terminal=True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Clean semantic split: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Done head learns to detect COLLISION, not overlay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Model learns crash -&gt; overlay as normal prediction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At inference: done fires, 1 more frame generated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Model produces its OWN game-over visual, then freeze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All generated pixels from the world model itself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9728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Done Head: Training/Inference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Training: done head sees z_t at random t ~ U(0,1)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Inference: done head only queried at t=1 (clean sample)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Predictions at low t (noisy intermediates) never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Solution: weight done loss by w(t) = 5 * t^4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At t=0.1: weight = 0.0005 (negligible)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At t=0.9: weight = 3.28 (dominant)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Normalized to mean-1 under U(0,1) for stable scaling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8A4E"/>
                </a:solidFill>
                <a:latin typeface="Calibri"/>
              </a:defRPr>
            </a:pPr>
            <a:r>
              <a:t>Design Decision: How Should Actions Enter the Model?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292608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5E5E"/>
                </a:solidFill>
                <a:latin typeface="Calibri"/>
              </a:defRPr>
            </a:pPr>
            <a:r>
              <a:t>V1: AdaGN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All k+1 actions flattened into one vector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Global scale/shift via AdaGN at every layer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Spatially uniform — same modulation everywhere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Model must learn to route global signal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 bird region through conv filters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Target action buried in flattened vector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Result: model mostly ignores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47472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V2: Spatial Broadcast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Target action embedded + broadcast to (B,16,H,W)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Concatenated as input channels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First conv sees action spatially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Context actions DISCARDED entirely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Only first layer processes the action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No deep action injection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Result: better, but gravity still broken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097280"/>
            <a:ext cx="3474720" cy="2926080"/>
          </a:xfrm>
          <a:prstGeom prst="roundRect">
            <a:avLst/>
          </a:prstGeom>
          <a:solidFill>
            <a:srgbClr val="1A3E1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DE8A"/>
                </a:solidFill>
                <a:latin typeface="Calibri"/>
              </a:defRPr>
            </a:pPr>
            <a:r>
              <a:t>V3: Dual Path (current)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BOTH spatial + AdaGN simultaneously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Target action: broadcast spatially at input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All k+1 actions: AdaGN at every layer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Action impossible to ignore — woven into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input tensor AND deep layer modulations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Shared Embedding(2, 128) for both paths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Result: improved, but gravity still a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9728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Why Is This So Hard?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Flappy Bird has a BINARY action space (flap / no-flap). Cross-attention (GameNGen's approach) is overkill.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The challenge isn't representing the action — it's making the model USE it over the easier alternative of extrapolating from temporal context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AdaGN is inherently global: same scale/shift everywhere. But 'flap' means 'apply upward velocity to the bird specifically' — a spatially localized effect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Zero-initialized projection means action conditioning literally starts as a no-op and must be learned from scratch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5E5E"/>
                </a:solidFill>
                <a:latin typeface="Calibri"/>
              </a:defRPr>
            </a:pPr>
            <a:r>
              <a:t>Failed Experiment: Residual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REVERTED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Instead of predicting z_target from N(0,1)...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Predict the DELTA: z_target - z_last (frame difference)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Hypothesis: frame deltas capture dynamics (velocity, etc.)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Should make the model focus on what CHANGED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Similar to residual connections — predict the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Why It Failed Catastrophically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Frame deltas are NEAR ZERO (consecutive frames very similar)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z_1 = z_target - z_last ~ 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But z_0 ~ N(0,1) has magnitude ~ 1.0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So v_target = z_1 - z_0 ~ -z_0 (just negative noise!)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The actual frame-delta signal is LOST in the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9728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5029200" cy="137160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What we expected: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Model learns meaningful velocity field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for small frame-to-frame changes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What actually happened: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v_target ≈ 0 - z_0 = -z_0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Model learns to predict negative of input noise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Output: totally unstable garbage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Lesson: flow matching from N(0,1) requires the TARGET to have large magnitude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Near-zero targets make the flow degenerate — the model just learns to cancel the noise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Would need a different source distribution (not N(0,1)) or a different parameterization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Reverted immediately after observing unstable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8A4E"/>
                </a:solidFill>
                <a:latin typeface="Calibri"/>
              </a:defRPr>
            </a:pPr>
            <a:r>
              <a:t>Diagnostic Experiment: Train Only on No-Flap Frames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If we train ONLY on action=0 (no-flap) frames...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bird should ALWAYS fall due to gravity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No conflicting flap signals to confuse the model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If it works: action conditioning is the bottleneck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If it doesn't work: something more fundamental is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Result: Bird STILL Doesn't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Even with 100% no-flap training data, no gravity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Bird hovers near pipe center, never falls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Rules out action conditioning as sole cause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Points to a fundamental optimization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97280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Root Cause Analysis: The Bird Is Too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bird occupies ~1-2% of the latent spatial area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MSE loss over full frame: 98% of gradient from background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Background is EASY (pipes scroll predictably, sky is static)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 achieves low loss by perfecting the background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and predicting bird at the 'average'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97680"/>
            <a:ext cx="5029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DE8A"/>
                </a:solidFill>
                <a:latin typeface="Calibri"/>
              </a:defRPr>
            </a:pPr>
            <a:r>
              <a:t>Information Theory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Model: ~3.4M params x 2 bits/param = 6.8M bits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Flappy Bird state: ~100K bits (generous estimate)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 has ~70x more capacity than needed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NOT a capacity bottleneck — it's OPTIMIZATION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MSE doesn't provide enough gradient for bird region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DE8A"/>
                </a:solidFill>
                <a:latin typeface="Calibri"/>
              </a:defRPr>
            </a:pPr>
            <a:r>
              <a:t>Solution: Auxiliary Dynamics Head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Add MLP head at bottleneck that predicts game state: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[dy, vel_y, dx] = bird-to-gap dist, velocity, pipe dist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These are available in training data (processed_obs)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MSE loss on this prediction, weight = 0.1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Crucially: NOT detached from backbone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Gradients flow back into the entire 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Why This Should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Forces bottleneck to learn bird position/velocity features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Direct gradient signal for bird dynamics (not buried in MSE)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Contrast with done head: done IS detached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(done is passive reader, doesn't distort flow features)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Dynamics head IS NOT detached: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(want to actively shape representations to know bird state)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972800" cy="2468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5029200" cy="137160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Dynamics head (NOT detached from backbone)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dynamics_head = Sequential(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AdaptiveAvgPool2d(1),  # (B, 256, 9, 16) -&gt; (B, 256)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Flatten(),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Linear(256, 64), SiLU(),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Linear(64, 3),         # -&gt; [dy, vel_y, dx]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In loss function: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dynamics_loss = MSE(dynamics_pred, game_states)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total = flow_loss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 + 0.1 * done_loss    # detached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     + 0.1 * dynamics_loss # NOT detached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Current experiment — awaiting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E8A4E"/>
                </a:solidFill>
                <a:latin typeface="Calibri"/>
              </a:defRPr>
            </a:pPr>
            <a:r>
              <a:t>Design Decision: Noise Augmentation for Autoregressive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At inference, model conditions on its OWN outputs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Training sees only CLEAN (ground truth) conditioning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Small errors compound: drift, artifacts, collapse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Quality degrades within seconds of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Solution (from GameNGen)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Add random Gaussian noise to conditioning during training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 learns to handle imperfect, noisy context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Naturally robust to own prediction errors at inference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Tell model the noise level via discrete 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97280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Design Choices and Tradeoffs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Discretized bins (10) vs continuous: gives model clear signal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max_aug_std = 0.5: tried reducing to 0.25 (no improvement)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GameNGen uses 0.7 — higher noise = more robustness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At inference: set aug_level=0 ('this conditioning is clean')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aug_level enters model through Embedding(10, 128) -&gt; SiLU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Concatenated with time and action in AdaGN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Also tried aug_level=8 at inference (match training median)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Settled on aug_level=0 — cleaner outputs for first frame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The augmentation also helps with the done head: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noisy context still lets model predict termination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E8A4E"/>
                </a:solidFill>
                <a:latin typeface="Calibri"/>
              </a:defRPr>
            </a:pPr>
            <a:r>
              <a:t>Design Decision: Data Collection &amp; Behavioral Diversity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Problem: Expert Data Is Boring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Optimal PPO agent plays perfectly — narrow state coverage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Bird always near pipe gaps, never extreme heights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Almost never crashes in interesting ways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Model has no training signal for 'what if bird is too high?'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Solution: Hijacked PPO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p_stim: probability of forcing a flap (when agent says don't)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p_freeze: probability of blocking a flap (when agent says do)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Grid of 17 configurations: (0, 0) to (0.05, 0.5)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Creates birds flying too high, crashing into ground,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97280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Data Evolution Across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EDE"/>
                </a:solidFill>
                <a:latin typeface="Calibri"/>
              </a:defRPr>
            </a:pPr>
            <a:r>
              <a:t>1/29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16 configs, 50 runs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141K frames, 1.3hr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Bird never extreme heights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EDE"/>
                </a:solidFill>
                <a:latin typeface="Calibri"/>
              </a:defRPr>
            </a:pPr>
            <a:r>
              <a:t>1/31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17 configs, up to 330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467K frames, 4.3hr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3,135 episodes, much more diverse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6EDE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More p_stim/p_freeze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Target 1M+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Cover edge cases: ground crash, ceiling, etc.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E8A4E"/>
                </a:solidFill>
                <a:latin typeface="Calibri"/>
              </a:defRPr>
            </a:pPr>
            <a:r>
              <a:t>Design Decision: Bird-Weighted VAE Loss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Flappy Bird frames: mostly sky, ground, pipes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Bird is ~2% of the image area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Standard L1 loss: 98% of gradient from background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VAE happily sacrifices bird detail for background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The Solution: 10x Bird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solidFill>
            <a:srgbClr val="121220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Detect bird by color (it's orange)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bird_mask = (r&gt;0.8) &amp; (g&gt;0.3) &amp; (g&lt;0.6) &amp; (b&lt;0.3)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Find top, offset 23px for white head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y_min = rows.min() - 23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Fixed x range (bird doesn't move horizontally)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weights[..., y_min:y_max, 50:100] = 10.0</a:t>
            </a: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D0A0"/>
                </a:solidFill>
                <a:latin typeface="Courier New"/>
              </a:defRPr>
            </a:pPr>
            <a:r>
              <a:t># VAE loss = weighted_L1 + gradient_L1 + 0.001*KL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972800" cy="1828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t>VAE Loss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Weighted L1: 10x on bird region for sharp reconstruction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Gradient L1: preserves edges (pipes, ground line, bird outline)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KL divergence (w=0.001): regularizes latent space structure</a:t>
            </a:r>
          </a:p>
          <a:p>
            <a:pPr>
              <a:spcAft>
                <a:spcPts val="3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Also added 10x weight for game-over overlay sprite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External normalization: z = (z_raw - 0.4735) / 1.5931. Decouples VAE and flow model — swap checkpoints without retuning.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Engineering: Optimizations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torch.compile(mode='reduce-overhead') — CUDA graphs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bfloat16 autocast — ~2x memory, ~30% speedup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Gradient checkpointing — ~50% memory at ~25% compute cost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DDP with NCCL — multi-GPU scaling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Persistent workers + prefetch_factor=2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Pre-encode all latents (was encoding on-the-fly earlier!)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torch.inference_mode() at test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5E5E"/>
                </a:solidFill>
                <a:latin typeface="Calibri"/>
              </a:defRPr>
            </a:pPr>
            <a:r>
              <a:t>What Didn't Work / Reverted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channels_last memory format — crashed on rank-5 tensors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(past_frames is [B, k, C, H, W] = rank 5, needs rank 4)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ConvTranspose2d for upsampling — checkerboard artifacts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Replaced with interpolate + conv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Running encode_vod.py every training epoch (very slow!)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Pre-encode once, load tensors during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Automation: Fewer Manual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Auto latent statistics: mean/std computed after VAE training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Saved to config.json, loaded by encode_vod.py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Auto class weights: action_weight and done_pos_weight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Computed during encoding, saved to encode_config.json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Loaded by train_ngen.py at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Auto resume: training resumes from latest.pt checkpoint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Optimizer + scheduler + epoch state restored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Config saved once: model_config + train_config + paths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-&gt; Reconstruct exact training setup from run directory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Run directory broadcast via DDP for multi-GPU consistency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Full Experiment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A8DE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914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A8DE"/>
                </a:solidFill>
                <a:latin typeface="Calibri"/>
              </a:defRPr>
            </a:pPr>
            <a:r>
              <a:t>First ngen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Encoding on-the-fly, ~40 epochs, no latent-vod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15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115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A8DE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115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A8DE"/>
                </a:solidFill>
                <a:latin typeface="Calibri"/>
              </a:defRPr>
            </a:pPr>
            <a:r>
              <a:t>Added done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115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BCE loss on termination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DE8A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DE8A"/>
                </a:solidFill>
                <a:latin typeface="Calibri"/>
              </a:defRPr>
            </a:pPr>
            <a:r>
              <a:t>Added action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17x loss reweight for flap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059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059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DE8A"/>
                </a:solidFill>
                <a:latin typeface="Calibri"/>
              </a:defRPr>
            </a:pPr>
            <a:r>
              <a:t>Perf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8059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DE8A"/>
                </a:solidFill>
                <a:latin typeface="Calibri"/>
              </a:defRPr>
            </a:pPr>
            <a:r>
              <a:t>Added latent-vod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8059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Pre-encode everything, huge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DE8A"/>
                </a:solidFill>
                <a:latin typeface="Calibri"/>
              </a:defRPr>
            </a:pPr>
            <a:r>
              <a:t>Perf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DE8A"/>
                </a:solidFill>
                <a:latin typeface="Calibri"/>
              </a:defRPr>
            </a:pPr>
            <a:r>
              <a:t>Optimization sweep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03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torch.compile, bf16, grad checkpoint, grad clip, LR sched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003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4003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A8DE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4003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A8DE"/>
                </a:solidFill>
                <a:latin typeface="Calibri"/>
              </a:defRPr>
            </a:pPr>
            <a:r>
              <a:t>New data: 141K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4003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16 hijacking configs, VAE retrained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97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97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6EDE"/>
                </a:solidFill>
                <a:latin typeface="Calibri"/>
              </a:defRPr>
            </a:pPr>
            <a: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6EDE"/>
                </a:solidFill>
                <a:latin typeface="Calibri"/>
              </a:defRPr>
            </a:pPr>
            <a:r>
              <a:t>Full training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k=8, CFG, attention at bottleneck, 2 H200s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29946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E5E5E"/>
                </a:solidFill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114800" y="29946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E5E5E"/>
                </a:solidFill>
                <a:latin typeface="Calibri"/>
              </a:defRPr>
            </a:pPr>
            <a:r>
              <a:t>Result: HORRIBLE — worse than before, ignores gravity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291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291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5E5E"/>
                </a:solidFill>
                <a:latin typeface="Calibri"/>
              </a:defRPr>
            </a:pPr>
            <a:r>
              <a:t>Bug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5E5E"/>
                </a:solidFill>
                <a:latin typeface="Calibri"/>
              </a:defRPr>
            </a:pPr>
            <a:r>
              <a:t>Found CFG bug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291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Was dropping actions in unconditional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890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5890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8A4E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5890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A4E"/>
                </a:solidFill>
                <a:latin typeface="Calibri"/>
              </a:defRPr>
            </a:pPr>
            <a:r>
              <a:t>Death frames fix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5890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5 -&gt; 1, done head t^4 reweighting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8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1/31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88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A8DE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A8DE"/>
                </a:solidFill>
                <a:latin typeface="Calibri"/>
              </a:defRPr>
            </a:pPr>
            <a:r>
              <a:t>New data: 467K frames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886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3,135 episodes, 17 configs, 4.3hr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833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1833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A8DE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1833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A8DE"/>
                </a:solidFill>
                <a:latin typeface="Calibri"/>
              </a:defRPr>
            </a:pPr>
            <a:r>
              <a:t>New VAE + encoding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1833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hidden_ch=32, game-over sprite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5E5E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5E5E"/>
                </a:solidFill>
                <a:latin typeface="Calibri"/>
              </a:defRPr>
            </a:pPr>
            <a:r>
              <a:t>Ngen run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4480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Bird disappears near pipes, no gravity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7777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47777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DE8A"/>
                </a:solidFill>
                <a:latin typeface="Calibri"/>
              </a:defRPr>
            </a:pPr>
            <a:r>
              <a:t>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47777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DE8A"/>
                </a:solidFill>
                <a:latin typeface="Calibri"/>
              </a:defRPr>
            </a:pPr>
            <a:r>
              <a:t>Spatial action cond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7777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Broadcast target action as input channels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074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5074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8A4E"/>
                </a:solidFill>
                <a:latin typeface="Calibri"/>
              </a:defRPr>
            </a:pPr>
            <a:r>
              <a:t>Run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A4E"/>
                </a:solidFill>
                <a:latin typeface="Calibri"/>
              </a:defRPr>
            </a:pPr>
            <a:r>
              <a:t>Dual-path (spatial+AdaGN)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074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Actions slightly better, gravity still fails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3721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53721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5E5E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53721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5E5E"/>
                </a:solidFill>
                <a:latin typeface="Calibri"/>
              </a:defRPr>
            </a:pPr>
            <a:r>
              <a:t>Residual prediction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3721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Predict z_target - z_last. REVERTED (degenerate)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5669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5669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E5E5E"/>
                </a:solidFill>
                <a:latin typeface="Calibri"/>
              </a:defRPr>
            </a:pPr>
            <a:r>
              <a:t>Diag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5E5E"/>
                </a:solidFill>
                <a:latin typeface="Calibri"/>
              </a:defRPr>
            </a:pPr>
            <a:r>
              <a:t>Filter action=0 test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669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Train only no-flap. Bird still doesn't fall!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9664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59664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6EDE"/>
                </a:solidFill>
                <a:latin typeface="Calibri"/>
              </a:defRPr>
            </a:pPr>
            <a:r>
              <a:t>Insight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28800" y="59664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6EDE"/>
                </a:solidFill>
                <a:latin typeface="Calibri"/>
              </a:defRPr>
            </a:pPr>
            <a:r>
              <a:t>Info theory analysis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59664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6.8M bits capacity vs 100K needed — optimization problem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263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2/26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" y="6263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EDE8A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DE8A"/>
                </a:solidFill>
                <a:latin typeface="Calibri"/>
              </a:defRPr>
            </a:pPr>
            <a:r>
              <a:t>Dynamics head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6263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Predict [dy, vel_y, dx] from bottleneck (not detached)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Status: What Works, What Doesn't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DE8A"/>
                </a:solidFill>
                <a:latin typeface="Calibri"/>
              </a:defRPr>
            </a:pPr>
            <a:r>
              <a:t>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Visually sharp frame generation (VAE is excellent)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Pipes scroll correctly, background moves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Overall scene structure is coherent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Done head detects termination near crash frames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Actions produce visible (if subtle) differences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Interactive play loop runs at ~10 FPS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Training infrastructure is solid and automated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3E1A1A"/>
          </a:solidFill>
          <a:ln w="19050">
            <a:solidFill>
              <a:srgbClr val="D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E5E5E"/>
                </a:solidFill>
                <a:latin typeface="Calibri"/>
              </a:defRPr>
            </a:pPr>
            <a:r>
              <a:t>Not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Bird doesn't respect gravity (floats/hovers)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Bird occasionally disappears near pipes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Action response is visible but not crisp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 predicts 'average' bird position instead of physics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Long-horizon generation drifts after 30+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EDE"/>
                </a:solidFill>
                <a:latin typeface="Calibri"/>
              </a:defRPr>
            </a:pPr>
            <a:r>
              <a:t>Key Insight: The Bottleneck Is Optimization, Not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 has 70x more capacity than needed (6.8M bits vs ~100K bits for full game state)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The bird occupies ~1-2% of latent spatial area — MSE gradient is dominated by background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Background is easy to predict (pipes scroll linearly, sky is static). Bird dynamics are hard (acceleration, collision, action-dependent).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The model takes the path of least resistance: perfect background, average bird position = low MSE without learning physics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This is why the dynamics head is promising: it provides DIRECT gradient signal for bird position/velocity, bypassing the MSE bottleneck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GameNGen vs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GameNGen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This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Base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Stable Diffusion 1.4 (~860M params)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Custom ResUNet (~3.4M params)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92224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Training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Fine-tune pretrained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Train from 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12848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311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Generative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31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DDIM denoising diffusion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31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Flow matching + Euler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33472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Data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900M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467K frames (2000x less)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54096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072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Context frames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(3.2s)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(0.13s)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Action conditioning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Cross-attention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Dual-path: spatial + AdaGN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95344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1363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CFG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9136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Drop frames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136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Drop frames only (after bug fix)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15968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342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Noise augmentation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3342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0.7 max, 10 bins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3342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0.5 max, 10 bins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36592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7548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Inference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DDIM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50 Euler (planned: reflow to 8)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157216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Game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175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175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Flappy Bird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577840"/>
            <a:ext cx="10789920" cy="38404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5961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Done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596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N/A (DOOM doesn't end)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5596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Auxiliary head + t^4 weighting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998464"/>
            <a:ext cx="10789920" cy="38404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6016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Dynamics head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6016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6016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Predict [dy, vel_y, dx] from bottleneck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 &amp; Open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D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DE8A"/>
                </a:solidFill>
                <a:latin typeface="Calibri"/>
              </a:defRPr>
            </a:pPr>
            <a:r>
              <a:t>Immediate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Evaluate dynamics head results — does bird learn gravity?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If not: increase dynamics_loss_weight, try different game state features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Reflow training for faster inference (50 -&gt; 8 steps)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Decoder fine-tuning on generated latents (GameNGen approach)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More data: target 1M+ frames with wider behavioral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D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E8A4E"/>
                </a:solidFill>
                <a:latin typeface="Calibri"/>
              </a:defRPr>
            </a:pPr>
            <a:r>
              <a:t>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How much context is optimal? (4 vs 8 vs 16 frames)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More VAE compression? 36x64 -&gt; 16x32 to force latent structure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Can the model learn collision detection from pixels alone?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Is reflow enough for real-time 30 FPS, or need distillation?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Would a GAN/perceptual loss help the bird region?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9728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6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6EDE"/>
                </a:solidFill>
                <a:latin typeface="Calibri"/>
              </a:defRPr>
            </a:pPr>
            <a:r>
              <a:t>The Big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architecture works. The training pipeline works. The model generates recognizable Flappy Bird gameplay.</a:t>
            </a:r>
          </a:p>
          <a:p>
            <a:pPr>
              <a:spcAft>
                <a:spcPts val="5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 gap between 'recognizable' and 'convincing' is where all the interesting design questions live.</a:t>
            </a:r>
          </a:p>
          <a:p>
            <a:pPr>
              <a:spcAft>
                <a:spcPts val="5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They are questions about inductive biases, not scale: How does conditioning structure shape what the model learns to rely on?</a:t>
            </a:r>
          </a:p>
          <a:p>
            <a:pPr>
              <a:spcAft>
                <a:spcPts val="5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When does providing more information actually hurt by enabling shortcuts? How strong does a signal need to be before the model uses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